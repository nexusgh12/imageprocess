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5" r:id="rId3"/>
    <p:sldId id="276" r:id="rId4"/>
    <p:sldId id="373" r:id="rId5"/>
    <p:sldId id="361" r:id="rId6"/>
    <p:sldId id="374" r:id="rId7"/>
    <p:sldId id="382" r:id="rId8"/>
    <p:sldId id="375" r:id="rId9"/>
    <p:sldId id="376" r:id="rId10"/>
    <p:sldId id="377" r:id="rId11"/>
    <p:sldId id="383" r:id="rId12"/>
    <p:sldId id="378" r:id="rId13"/>
    <p:sldId id="365" r:id="rId14"/>
    <p:sldId id="380" r:id="rId15"/>
    <p:sldId id="384" r:id="rId16"/>
    <p:sldId id="381" r:id="rId17"/>
    <p:sldId id="367" r:id="rId18"/>
    <p:sldId id="370" r:id="rId19"/>
    <p:sldId id="369" r:id="rId20"/>
    <p:sldId id="371" r:id="rId21"/>
    <p:sldId id="368" r:id="rId22"/>
    <p:sldId id="37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62" autoAdjust="0"/>
    <p:restoredTop sz="84670" autoAdjust="0"/>
  </p:normalViewPr>
  <p:slideViewPr>
    <p:cSldViewPr snapToGrid="0">
      <p:cViewPr varScale="1">
        <p:scale>
          <a:sx n="137" d="100"/>
          <a:sy n="137" d="100"/>
        </p:scale>
        <p:origin x="16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C543D-7B35-42F5-9327-E3FC57DAAE46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A1D86-2D29-4787-A356-134534C7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944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553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983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501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662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116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323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44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600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132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165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076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417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64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880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269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794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347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54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7070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043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632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1D86-2D29-4787-A356-134534C7B80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687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8E62C-E10C-422E-B3D3-CE185E06E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2CA48D-4A3A-43DC-933A-A2383802A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EB6770-38E5-4A23-9C0F-ED80389A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7948B9-22B6-476F-A5F5-8C32D262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2B6C78-1130-469F-AB6D-532D3CDA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94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1DB2E-AC1D-4325-8FE2-4F73ED83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5F9C3-2674-4F73-9E0A-77251BDD3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C487-0CDD-4C69-8DEC-E1245940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3B4CB4-6BF0-4529-9F7F-01780BE9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32791-2880-48B8-A098-5A024ED3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71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39ACC-9B49-48B5-B5FB-61A2CD03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A6727B-A92B-44DA-81FD-62537FB99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FAFBF-182B-4D6A-9199-7E964A6C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058182-9C61-4DD4-8A3D-38E85166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8374A6-C7F0-45D1-9D0F-77944A3F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65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2B440-518A-46A6-9E35-024BD43B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58560-D12A-4560-A601-03A2A2FE4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E68D81-C610-42B0-841F-DDC1C5965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7C17B3-3173-4741-886B-75C53F9A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9600CC-67B1-456C-995D-E53E4C066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21BE35-ECA8-4CF2-866C-F7F7847B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870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BBAE23-1370-4BDE-8E76-F2DE559E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7220ED-64EB-4E0F-9F26-3544339E1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F34803-E627-477F-8ED0-6F89D27D5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D857D0-152D-4113-B7C9-E39641531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0FBDF1-14D9-4D5E-AE72-98DACCBF7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000D65-FCCA-4305-9702-180936B3D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95E34E-CF47-4B55-998F-EFC49772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0352B7-9F79-4C2E-90E0-5A0CF290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5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22BB9-AC4C-4B19-AFD1-5D1856C6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267CC7-9680-4D7E-9C3F-A766E8E71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332F69-0DA6-4BCD-AD5C-F4F71509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E1FEE-197A-42F1-B327-4A74B99E5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30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3DEA08-8CFC-4293-A2A6-BF72E2B9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2287EC-7CFA-4B76-81EE-1CC070B7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D5BE-46FD-423D-8FA6-B16B4AF1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80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42B73-D44D-44F8-8325-D5EF3EE7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7ED76-B25D-4316-AEDD-04EF5C358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91491B-B210-41E3-A45E-41A7691DE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841BB0-098A-483C-8BFB-4D0E646F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1A89B6-2BEB-4929-A961-2BE11D87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6CF6C4-D9C6-48EA-B964-157013CE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07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784AC-0237-4409-B4B9-9CDA78C7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CE1B2A-6B53-4B79-A6C7-E5A1A2127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9D4CD9-8958-426A-8E3D-1F39EC233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C2EF9C-B51E-4E94-A1E5-A94816784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BBC799-06EE-4670-8251-1B1D3ED0E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232F8F-2971-4F4B-BAEF-96F346FB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18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DCD5D-1F91-4DCC-BA69-13DAE2C0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17D49D-1D57-46FD-B762-E363FC029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C1535-4F23-4B65-9876-297E5AE4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A75A12-2181-46C5-A167-D91E0363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90D5-A777-42C3-9C15-AF02AAD4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55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673B62-71F8-4C17-818F-984C44BC9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F0A7FA-DAA7-427B-A651-A01EBF927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F6F05-F734-4854-A3E6-079C9B8D1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2D9EF4-2EFA-42C9-8AAE-D7146E3E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E9DF01-445C-4279-85A3-198F2F5E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57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FFE0EE-93FB-497E-9391-F69DEEA9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E8FE0-415E-48BA-81D4-79964D172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50021-470F-49AF-B362-611B916E2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02DEA-7CDA-4B8C-BC4E-DE9F1EDB925A}" type="datetimeFigureOut">
              <a:rPr lang="ko-KR" altLang="en-US" smtClean="0"/>
              <a:t>2020-06-17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5299D-4985-496B-9B77-333DDE053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27E2B-AAFC-44BC-AC1A-1E6B4B7DF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699AE-936B-46D2-9F22-965DD08CA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94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5679A5-C395-46BD-AFF7-D5349B52F227}"/>
              </a:ext>
            </a:extLst>
          </p:cNvPr>
          <p:cNvSpPr txBox="1"/>
          <p:nvPr/>
        </p:nvSpPr>
        <p:spPr>
          <a:xfrm>
            <a:off x="0" y="1947933"/>
            <a:ext cx="79422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200" b="1" dirty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영상처리 프로그래밍</a:t>
            </a:r>
            <a:endParaRPr lang="en-US" altLang="ko-KR" sz="4200" b="1" dirty="0">
              <a:solidFill>
                <a:schemeClr val="bg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ko-KR" altLang="en-US" sz="4200" b="1" dirty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기말 프로젝트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5141B-1F68-4A85-8869-3EC388DE5B11}"/>
              </a:ext>
            </a:extLst>
          </p:cNvPr>
          <p:cNvSpPr txBox="1"/>
          <p:nvPr/>
        </p:nvSpPr>
        <p:spPr>
          <a:xfrm>
            <a:off x="7329835" y="4502391"/>
            <a:ext cx="3687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chemeClr val="bg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빅데이터전공</a:t>
            </a:r>
            <a:endParaRPr lang="en-US" altLang="ko-KR" sz="2400" b="1" dirty="0">
              <a:solidFill>
                <a:schemeClr val="bg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20165332 </a:t>
            </a:r>
            <a:r>
              <a:rPr lang="ko-KR" altLang="en-US" sz="2400" b="1" dirty="0" err="1">
                <a:solidFill>
                  <a:schemeClr val="bg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정구현</a:t>
            </a:r>
            <a:endParaRPr lang="en-US" altLang="ko-KR" sz="2400" b="1" dirty="0">
              <a:solidFill>
                <a:schemeClr val="bg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DF566D-6E51-4CAB-90B0-745CEA9ABC35}"/>
              </a:ext>
            </a:extLst>
          </p:cNvPr>
          <p:cNvCxnSpPr>
            <a:cxnSpLocks/>
          </p:cNvCxnSpPr>
          <p:nvPr/>
        </p:nvCxnSpPr>
        <p:spPr>
          <a:xfrm>
            <a:off x="0" y="1701800"/>
            <a:ext cx="6660833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3875B2-ED00-4407-B6C5-102D6FC29420}"/>
              </a:ext>
            </a:extLst>
          </p:cNvPr>
          <p:cNvCxnSpPr>
            <a:cxnSpLocks/>
          </p:cNvCxnSpPr>
          <p:nvPr/>
        </p:nvCxnSpPr>
        <p:spPr>
          <a:xfrm>
            <a:off x="7329835" y="5333386"/>
            <a:ext cx="474688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04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907FCCB-48EB-419B-A2CC-B8D013E8107F}"/>
              </a:ext>
            </a:extLst>
          </p:cNvPr>
          <p:cNvSpPr txBox="1"/>
          <p:nvPr/>
        </p:nvSpPr>
        <p:spPr>
          <a:xfrm>
            <a:off x="541338" y="709613"/>
            <a:ext cx="1107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목차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8E88227-CD9D-481D-8415-5A835A14B910}"/>
              </a:ext>
            </a:extLst>
          </p:cNvPr>
          <p:cNvCxnSpPr/>
          <p:nvPr/>
        </p:nvCxnSpPr>
        <p:spPr>
          <a:xfrm>
            <a:off x="-25400" y="1341438"/>
            <a:ext cx="25574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03EC970-A3B2-46AC-8F77-D5C02C06F9AE}"/>
              </a:ext>
            </a:extLst>
          </p:cNvPr>
          <p:cNvSpPr/>
          <p:nvPr/>
        </p:nvSpPr>
        <p:spPr>
          <a:xfrm>
            <a:off x="2171702" y="1160465"/>
            <a:ext cx="360363" cy="1809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1551DD-9AD5-4894-91D6-83F30BEBDE27}"/>
              </a:ext>
            </a:extLst>
          </p:cNvPr>
          <p:cNvSpPr txBox="1"/>
          <p:nvPr/>
        </p:nvSpPr>
        <p:spPr bwMode="auto">
          <a:xfrm>
            <a:off x="1604965" y="3604189"/>
            <a:ext cx="1806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</a:t>
            </a:r>
            <a:r>
              <a:rPr lang="ko-KR" altLang="en-US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736C60F-D569-40DA-A930-8F522E73C4E9}"/>
              </a:ext>
            </a:extLst>
          </p:cNvPr>
          <p:cNvSpPr/>
          <p:nvPr/>
        </p:nvSpPr>
        <p:spPr bwMode="auto">
          <a:xfrm>
            <a:off x="2191795" y="3429002"/>
            <a:ext cx="701358" cy="608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B187B6-9FE7-496A-9764-B863B9D064A8}"/>
              </a:ext>
            </a:extLst>
          </p:cNvPr>
          <p:cNvSpPr txBox="1"/>
          <p:nvPr/>
        </p:nvSpPr>
        <p:spPr bwMode="auto">
          <a:xfrm>
            <a:off x="3909196" y="3604189"/>
            <a:ext cx="1983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2</a:t>
            </a:r>
            <a:r>
              <a:rPr lang="ko-KR" altLang="en-US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9B02AFB-047D-46E8-B632-95C2268A5FB8}"/>
              </a:ext>
            </a:extLst>
          </p:cNvPr>
          <p:cNvSpPr/>
          <p:nvPr/>
        </p:nvSpPr>
        <p:spPr bwMode="auto">
          <a:xfrm>
            <a:off x="4584804" y="3429002"/>
            <a:ext cx="701358" cy="608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BD0A34-CD6E-4CE6-B10E-95DA7744DCD3}"/>
              </a:ext>
            </a:extLst>
          </p:cNvPr>
          <p:cNvSpPr txBox="1"/>
          <p:nvPr/>
        </p:nvSpPr>
        <p:spPr bwMode="auto">
          <a:xfrm>
            <a:off x="6390983" y="3604189"/>
            <a:ext cx="1806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3</a:t>
            </a:r>
            <a:r>
              <a:rPr lang="ko-KR" altLang="en-US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4410CCC-BAAC-47E1-94DC-5020F6DA4C50}"/>
              </a:ext>
            </a:extLst>
          </p:cNvPr>
          <p:cNvSpPr/>
          <p:nvPr/>
        </p:nvSpPr>
        <p:spPr bwMode="auto">
          <a:xfrm>
            <a:off x="6977813" y="3429002"/>
            <a:ext cx="701358" cy="608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2C28DD-4F8E-49C5-8FE5-35BE11437A84}"/>
              </a:ext>
            </a:extLst>
          </p:cNvPr>
          <p:cNvSpPr txBox="1"/>
          <p:nvPr/>
        </p:nvSpPr>
        <p:spPr bwMode="auto">
          <a:xfrm>
            <a:off x="8783992" y="3604189"/>
            <a:ext cx="1806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4</a:t>
            </a:r>
            <a:r>
              <a:rPr lang="ko-KR" altLang="en-US" sz="1600" kern="0" dirty="0">
                <a:solidFill>
                  <a:sysClr val="windowText" lastClr="000000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749ABCA-FFDC-4E25-80C2-799D554A4318}"/>
              </a:ext>
            </a:extLst>
          </p:cNvPr>
          <p:cNvSpPr/>
          <p:nvPr/>
        </p:nvSpPr>
        <p:spPr bwMode="auto">
          <a:xfrm>
            <a:off x="9370822" y="3429002"/>
            <a:ext cx="701358" cy="6088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239D000-B6F3-40F4-929A-6B8EDA2D9058}"/>
              </a:ext>
            </a:extLst>
          </p:cNvPr>
          <p:cNvSpPr txBox="1"/>
          <p:nvPr/>
        </p:nvSpPr>
        <p:spPr>
          <a:xfrm>
            <a:off x="1683996" y="1721285"/>
            <a:ext cx="52004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프로젝트</a:t>
            </a:r>
            <a:r>
              <a:rPr lang="en-US" altLang="ko-KR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 : </a:t>
            </a: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얼굴 </a:t>
            </a:r>
            <a:r>
              <a:rPr lang="ko-KR" altLang="en-US" sz="40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블러링</a:t>
            </a:r>
            <a:endParaRPr lang="ko-KR" altLang="en-US" sz="40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A5AB76-F8D4-48AD-9846-A839E657CBDB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731078" y="2429171"/>
            <a:ext cx="53194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EBD93B-2E24-491C-BBB3-56E08FBA9D1F}"/>
              </a:ext>
            </a:extLst>
          </p:cNvPr>
          <p:cNvSpPr/>
          <p:nvPr/>
        </p:nvSpPr>
        <p:spPr>
          <a:xfrm>
            <a:off x="7050503" y="2338683"/>
            <a:ext cx="180975" cy="18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E48E6-33EA-4889-85EE-14746B2CFB5B}"/>
              </a:ext>
            </a:extLst>
          </p:cNvPr>
          <p:cNvSpPr txBox="1"/>
          <p:nvPr/>
        </p:nvSpPr>
        <p:spPr>
          <a:xfrm>
            <a:off x="7833629" y="4669989"/>
            <a:ext cx="3355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2020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년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월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일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빅데이터전공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3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학년 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20165332 </a:t>
            </a: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정구현</a:t>
            </a:r>
            <a:endParaRPr lang="ko-KR" altLang="en-US" sz="24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목표 및 결과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AC2856-6864-42EC-9523-53DD72B7509C}"/>
              </a:ext>
            </a:extLst>
          </p:cNvPr>
          <p:cNvSpPr/>
          <p:nvPr/>
        </p:nvSpPr>
        <p:spPr>
          <a:xfrm>
            <a:off x="3784522" y="1592306"/>
            <a:ext cx="6335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input</a:t>
            </a:r>
          </a:p>
        </p:txBody>
      </p:sp>
      <p:pic>
        <p:nvPicPr>
          <p:cNvPr id="15" name="그림 14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BD5DF121-56B6-4734-B842-B69C65A574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40"/>
          <a:stretch/>
        </p:blipFill>
        <p:spPr>
          <a:xfrm>
            <a:off x="2957914" y="1935563"/>
            <a:ext cx="3086420" cy="2680950"/>
          </a:xfrm>
          <a:prstGeom prst="rect">
            <a:avLst/>
          </a:prstGeom>
        </p:spPr>
      </p:pic>
      <p:pic>
        <p:nvPicPr>
          <p:cNvPr id="16" name="그림 15" descr="여자, 방이(가) 표시된 사진&#10;&#10;자동 생성된 설명">
            <a:extLst>
              <a:ext uri="{FF2B5EF4-FFF2-40B4-BE49-F238E27FC236}">
                <a16:creationId xmlns:a16="http://schemas.microsoft.com/office/drawing/2014/main" id="{C7111181-01FE-4197-9E82-0D6BE69677E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96"/>
          <a:stretch/>
        </p:blipFill>
        <p:spPr>
          <a:xfrm>
            <a:off x="6142056" y="1935562"/>
            <a:ext cx="3086420" cy="255219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258A52-EF59-4DAF-A8F2-F44D78ECC780}"/>
              </a:ext>
            </a:extLst>
          </p:cNvPr>
          <p:cNvSpPr/>
          <p:nvPr/>
        </p:nvSpPr>
        <p:spPr>
          <a:xfrm>
            <a:off x="7368512" y="1592306"/>
            <a:ext cx="7633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output</a:t>
            </a:r>
          </a:p>
        </p:txBody>
      </p:sp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D3B75D46-70B4-42AC-AFD1-CE2A3823413A}"/>
              </a:ext>
            </a:extLst>
          </p:cNvPr>
          <p:cNvSpPr/>
          <p:nvPr/>
        </p:nvSpPr>
        <p:spPr>
          <a:xfrm>
            <a:off x="3793663" y="4651993"/>
            <a:ext cx="4604673" cy="836849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목표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얼굴부분을 </a:t>
            </a:r>
            <a:r>
              <a:rPr lang="ko-KR" altLang="en-US" sz="1100" b="1" dirty="0" err="1">
                <a:solidFill>
                  <a:schemeClr val="tx1"/>
                </a:solidFill>
              </a:rPr>
              <a:t>블러링</a:t>
            </a:r>
            <a:r>
              <a:rPr lang="ko-KR" altLang="en-US" sz="1100" b="1" dirty="0">
                <a:solidFill>
                  <a:schemeClr val="tx1"/>
                </a:solidFill>
              </a:rPr>
              <a:t> 처리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결과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입력 출력 영상 참조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84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29FEBBA7-6F2C-481E-AEDB-4D7DFCD44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97" y="810658"/>
            <a:ext cx="3789491" cy="5452904"/>
          </a:xfrm>
          <a:prstGeom prst="rect">
            <a:avLst/>
          </a:prstGeom>
        </p:spPr>
      </p:pic>
      <p:pic>
        <p:nvPicPr>
          <p:cNvPr id="3" name="그림 2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01FB6551-01F4-4708-A595-A2B5951E3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284" y="810658"/>
            <a:ext cx="3086419" cy="5452904"/>
          </a:xfrm>
          <a:prstGeom prst="rect">
            <a:avLst/>
          </a:prstGeom>
        </p:spPr>
      </p:pic>
      <p:pic>
        <p:nvPicPr>
          <p:cNvPr id="6" name="그림 5" descr="여자, 방이(가) 표시된 사진&#10;&#10;자동 생성된 설명">
            <a:extLst>
              <a:ext uri="{FF2B5EF4-FFF2-40B4-BE49-F238E27FC236}">
                <a16:creationId xmlns:a16="http://schemas.microsoft.com/office/drawing/2014/main" id="{BAB01F9E-42F2-4600-9E16-BA641C07EA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704" y="810658"/>
            <a:ext cx="3086420" cy="545290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BA13D89-FF68-4220-B4FD-BD09DC4AFCEA}"/>
              </a:ext>
            </a:extLst>
          </p:cNvPr>
          <p:cNvSpPr/>
          <p:nvPr/>
        </p:nvSpPr>
        <p:spPr>
          <a:xfrm>
            <a:off x="1593397" y="6268005"/>
            <a:ext cx="12490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1</a:t>
            </a:r>
            <a:r>
              <a:rPr lang="ko-KR" altLang="en-US" sz="1400" b="1" dirty="0"/>
              <a:t>번 소스코드</a:t>
            </a:r>
            <a:endParaRPr lang="en-US" altLang="ko-KR" sz="14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AC2856-6864-42EC-9523-53DD72B7509C}"/>
              </a:ext>
            </a:extLst>
          </p:cNvPr>
          <p:cNvSpPr/>
          <p:nvPr/>
        </p:nvSpPr>
        <p:spPr>
          <a:xfrm>
            <a:off x="5475476" y="6268005"/>
            <a:ext cx="9941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1</a:t>
            </a:r>
            <a:r>
              <a:rPr lang="ko-KR" altLang="en-US" sz="1400" b="1" dirty="0"/>
              <a:t>번 출력</a:t>
            </a:r>
            <a:r>
              <a:rPr lang="en-US" altLang="ko-KR" sz="1400" b="1" dirty="0"/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30823A-1E3D-438B-86B4-935A6EA92AB7}"/>
              </a:ext>
            </a:extLst>
          </p:cNvPr>
          <p:cNvSpPr/>
          <p:nvPr/>
        </p:nvSpPr>
        <p:spPr>
          <a:xfrm>
            <a:off x="8583291" y="6268005"/>
            <a:ext cx="9941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1</a:t>
            </a:r>
            <a:r>
              <a:rPr lang="ko-KR" altLang="en-US" sz="1400" b="1" dirty="0"/>
              <a:t>번 출력</a:t>
            </a:r>
            <a:r>
              <a:rPr lang="en-US" altLang="ko-KR" sz="1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2078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세부 내용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pic>
        <p:nvPicPr>
          <p:cNvPr id="3" name="그림 2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01FB6551-01F4-4708-A595-A2B5951E35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18" b="1"/>
          <a:stretch/>
        </p:blipFill>
        <p:spPr>
          <a:xfrm>
            <a:off x="8915385" y="1100316"/>
            <a:ext cx="3086419" cy="3630635"/>
          </a:xfrm>
          <a:prstGeom prst="rect">
            <a:avLst/>
          </a:prstGeom>
        </p:spPr>
      </p:pic>
      <p:pic>
        <p:nvPicPr>
          <p:cNvPr id="6" name="그림 5" descr="여자, 방이(가) 표시된 사진&#10;&#10;자동 생성된 설명">
            <a:extLst>
              <a:ext uri="{FF2B5EF4-FFF2-40B4-BE49-F238E27FC236}">
                <a16:creationId xmlns:a16="http://schemas.microsoft.com/office/drawing/2014/main" id="{BAB01F9E-42F2-4600-9E16-BA641C07EAA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7" b="50897"/>
          <a:stretch/>
        </p:blipFill>
        <p:spPr>
          <a:xfrm>
            <a:off x="3163143" y="1513812"/>
            <a:ext cx="3086420" cy="2452582"/>
          </a:xfrm>
          <a:prstGeom prst="rect">
            <a:avLst/>
          </a:prstGeom>
        </p:spPr>
      </p:pic>
      <p:sp>
        <p:nvSpPr>
          <p:cNvPr id="19" name="사각형: 잘린 대각선 방향 모서리 18">
            <a:extLst>
              <a:ext uri="{FF2B5EF4-FFF2-40B4-BE49-F238E27FC236}">
                <a16:creationId xmlns:a16="http://schemas.microsoft.com/office/drawing/2014/main" id="{E57005B1-CF65-4BAE-8FEB-0CF55AEF8747}"/>
              </a:ext>
            </a:extLst>
          </p:cNvPr>
          <p:cNvSpPr/>
          <p:nvPr/>
        </p:nvSpPr>
        <p:spPr>
          <a:xfrm>
            <a:off x="691035" y="1569253"/>
            <a:ext cx="2318545" cy="547669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b="1">
                <a:solidFill>
                  <a:schemeClr val="tx1"/>
                </a:solidFill>
              </a:rPr>
              <a:t>1) </a:t>
            </a:r>
            <a:r>
              <a:rPr lang="ko-KR" altLang="en-US" sz="1100" b="1" dirty="0">
                <a:solidFill>
                  <a:schemeClr val="tx1"/>
                </a:solidFill>
              </a:rPr>
              <a:t>얼굴 검출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20" name="사각형: 잘린 대각선 방향 모서리 19">
            <a:extLst>
              <a:ext uri="{FF2B5EF4-FFF2-40B4-BE49-F238E27FC236}">
                <a16:creationId xmlns:a16="http://schemas.microsoft.com/office/drawing/2014/main" id="{07E8CFA7-300D-464A-BC24-716BD3E68DBD}"/>
              </a:ext>
            </a:extLst>
          </p:cNvPr>
          <p:cNvSpPr/>
          <p:nvPr/>
        </p:nvSpPr>
        <p:spPr>
          <a:xfrm>
            <a:off x="6317038" y="1569253"/>
            <a:ext cx="2598347" cy="1180927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arenR"/>
            </a:pPr>
            <a:r>
              <a:rPr lang="ko-KR" altLang="en-US" sz="1100" b="1" dirty="0">
                <a:solidFill>
                  <a:schemeClr val="tx1"/>
                </a:solidFill>
              </a:rPr>
              <a:t>각 얼굴 영역 </a:t>
            </a:r>
            <a:r>
              <a:rPr lang="ko-KR" altLang="en-US" sz="1100" b="1" dirty="0" err="1">
                <a:solidFill>
                  <a:schemeClr val="tx1"/>
                </a:solidFill>
              </a:rPr>
              <a:t>잘라내기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28600" indent="-228600">
              <a:buAutoNum type="arabicParenR"/>
            </a:pPr>
            <a:r>
              <a:rPr lang="ko-KR" altLang="en-US" sz="1100" b="1" dirty="0">
                <a:solidFill>
                  <a:schemeClr val="tx1"/>
                </a:solidFill>
              </a:rPr>
              <a:t>잘라낸 영역 </a:t>
            </a:r>
            <a:r>
              <a:rPr lang="ko-KR" altLang="en-US" sz="1100" b="1" dirty="0" err="1">
                <a:solidFill>
                  <a:schemeClr val="tx1"/>
                </a:solidFill>
              </a:rPr>
              <a:t>블러링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28600" indent="-228600">
              <a:buAutoNum type="arabicParenR"/>
            </a:pPr>
            <a:r>
              <a:rPr lang="ko-KR" altLang="en-US" sz="1100" b="1" dirty="0" err="1">
                <a:solidFill>
                  <a:schemeClr val="tx1"/>
                </a:solidFill>
              </a:rPr>
              <a:t>블러</a:t>
            </a:r>
            <a:r>
              <a:rPr lang="ko-KR" altLang="en-US" sz="1100" b="1" dirty="0">
                <a:solidFill>
                  <a:schemeClr val="tx1"/>
                </a:solidFill>
              </a:rPr>
              <a:t> 영상 카피 이미지에 붙여넣기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93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239D000-B6F3-40F4-929A-6B8EDA2D9058}"/>
              </a:ext>
            </a:extLst>
          </p:cNvPr>
          <p:cNvSpPr txBox="1"/>
          <p:nvPr/>
        </p:nvSpPr>
        <p:spPr>
          <a:xfrm>
            <a:off x="1683996" y="1721285"/>
            <a:ext cx="484299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프로젝트</a:t>
            </a:r>
            <a:r>
              <a:rPr lang="en-US" altLang="ko-KR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2 : Smile </a:t>
            </a: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삽입</a:t>
            </a:r>
            <a:endParaRPr lang="ko-KR" altLang="en-US" sz="40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A5AB76-F8D4-48AD-9846-A839E657CBDB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731078" y="2429171"/>
            <a:ext cx="53194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EBD93B-2E24-491C-BBB3-56E08FBA9D1F}"/>
              </a:ext>
            </a:extLst>
          </p:cNvPr>
          <p:cNvSpPr/>
          <p:nvPr/>
        </p:nvSpPr>
        <p:spPr>
          <a:xfrm>
            <a:off x="7050503" y="2338683"/>
            <a:ext cx="180975" cy="18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E48E6-33EA-4889-85EE-14746B2CFB5B}"/>
              </a:ext>
            </a:extLst>
          </p:cNvPr>
          <p:cNvSpPr txBox="1"/>
          <p:nvPr/>
        </p:nvSpPr>
        <p:spPr>
          <a:xfrm>
            <a:off x="7833629" y="4669989"/>
            <a:ext cx="3355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2020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년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월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일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빅데이터전공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3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학년 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20165332 </a:t>
            </a: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정구현</a:t>
            </a:r>
            <a:endParaRPr lang="ko-KR" altLang="en-US" sz="24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05777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목표 및 결과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02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02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AC2856-6864-42EC-9523-53DD72B7509C}"/>
              </a:ext>
            </a:extLst>
          </p:cNvPr>
          <p:cNvSpPr/>
          <p:nvPr/>
        </p:nvSpPr>
        <p:spPr>
          <a:xfrm>
            <a:off x="3784522" y="1592306"/>
            <a:ext cx="6335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input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258A52-EF59-4DAF-A8F2-F44D78ECC780}"/>
              </a:ext>
            </a:extLst>
          </p:cNvPr>
          <p:cNvSpPr/>
          <p:nvPr/>
        </p:nvSpPr>
        <p:spPr>
          <a:xfrm>
            <a:off x="7368512" y="1592306"/>
            <a:ext cx="7633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output</a:t>
            </a:r>
          </a:p>
        </p:txBody>
      </p:sp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D3B75D46-70B4-42AC-AFD1-CE2A3823413A}"/>
              </a:ext>
            </a:extLst>
          </p:cNvPr>
          <p:cNvSpPr/>
          <p:nvPr/>
        </p:nvSpPr>
        <p:spPr>
          <a:xfrm>
            <a:off x="3793663" y="4651993"/>
            <a:ext cx="4604673" cy="836849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목표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웃는 얼굴 입꼬리에 </a:t>
            </a:r>
            <a:r>
              <a:rPr lang="en-US" altLang="ko-KR" sz="1100" b="1" dirty="0">
                <a:solidFill>
                  <a:schemeClr val="tx1"/>
                </a:solidFill>
              </a:rPr>
              <a:t>Smile </a:t>
            </a:r>
            <a:r>
              <a:rPr lang="ko-KR" altLang="en-US" sz="1100" b="1" dirty="0">
                <a:solidFill>
                  <a:schemeClr val="tx1"/>
                </a:solidFill>
              </a:rPr>
              <a:t>텍스트 삽입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결과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입력 출력 영상 참조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39BE068F-E40B-48EF-8EB4-C3B29F11F2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6" b="60398"/>
          <a:stretch/>
        </p:blipFill>
        <p:spPr>
          <a:xfrm>
            <a:off x="2418385" y="2097707"/>
            <a:ext cx="3677615" cy="2288262"/>
          </a:xfrm>
          <a:prstGeom prst="rect">
            <a:avLst/>
          </a:prstGeom>
        </p:spPr>
      </p:pic>
      <p:pic>
        <p:nvPicPr>
          <p:cNvPr id="12" name="그림 11" descr="스크린샷이(가) 표시된 사진&#10;&#10;자동 생성된 설명">
            <a:extLst>
              <a:ext uri="{FF2B5EF4-FFF2-40B4-BE49-F238E27FC236}">
                <a16:creationId xmlns:a16="http://schemas.microsoft.com/office/drawing/2014/main" id="{6894A42F-D452-4B86-83B8-D85FCD3EC6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25"/>
          <a:stretch/>
        </p:blipFill>
        <p:spPr>
          <a:xfrm>
            <a:off x="6120321" y="2003303"/>
            <a:ext cx="3646472" cy="238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35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02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02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13D89-FF68-4220-B4FD-BD09DC4AFCEA}"/>
              </a:ext>
            </a:extLst>
          </p:cNvPr>
          <p:cNvSpPr/>
          <p:nvPr/>
        </p:nvSpPr>
        <p:spPr>
          <a:xfrm>
            <a:off x="2498274" y="6268005"/>
            <a:ext cx="12490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2</a:t>
            </a:r>
            <a:r>
              <a:rPr lang="ko-KR" altLang="en-US" sz="1400" b="1" dirty="0"/>
              <a:t>번 소스코드</a:t>
            </a:r>
            <a:endParaRPr lang="en-US" altLang="ko-KR" sz="14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30823A-1E3D-438B-86B4-935A6EA92AB7}"/>
              </a:ext>
            </a:extLst>
          </p:cNvPr>
          <p:cNvSpPr/>
          <p:nvPr/>
        </p:nvSpPr>
        <p:spPr>
          <a:xfrm>
            <a:off x="8380867" y="6130432"/>
            <a:ext cx="8899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2</a:t>
            </a:r>
            <a:r>
              <a:rPr lang="ko-KR" altLang="en-US" sz="1400" b="1" dirty="0"/>
              <a:t>번 출력</a:t>
            </a:r>
            <a:endParaRPr lang="en-US" altLang="ko-KR" sz="1400" b="1" dirty="0"/>
          </a:p>
        </p:txBody>
      </p:sp>
      <p:pic>
        <p:nvPicPr>
          <p:cNvPr id="12" name="그림 11" descr="스크린샷, 텍스트이(가) 표시된 사진&#10;&#10;자동 생성된 설명">
            <a:extLst>
              <a:ext uri="{FF2B5EF4-FFF2-40B4-BE49-F238E27FC236}">
                <a16:creationId xmlns:a16="http://schemas.microsoft.com/office/drawing/2014/main" id="{3E925497-4D27-40EF-9616-49B1EFE64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090" y="810658"/>
            <a:ext cx="3665499" cy="5421867"/>
          </a:xfrm>
          <a:prstGeom prst="rect">
            <a:avLst/>
          </a:prstGeom>
        </p:spPr>
      </p:pic>
      <p:pic>
        <p:nvPicPr>
          <p:cNvPr id="15" name="그림 14" descr="스크린샷이(가) 표시된 사진&#10;&#10;자동 생성된 설명">
            <a:extLst>
              <a:ext uri="{FF2B5EF4-FFF2-40B4-BE49-F238E27FC236}">
                <a16:creationId xmlns:a16="http://schemas.microsoft.com/office/drawing/2014/main" id="{89A2BCDA-2E3C-47A5-999A-12CF7593C7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230" b="226"/>
          <a:stretch/>
        </p:blipFill>
        <p:spPr>
          <a:xfrm>
            <a:off x="7026863" y="799625"/>
            <a:ext cx="3555047" cy="525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53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세부 내용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02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9" name="사각형: 잘린 대각선 방향 모서리 18">
            <a:extLst>
              <a:ext uri="{FF2B5EF4-FFF2-40B4-BE49-F238E27FC236}">
                <a16:creationId xmlns:a16="http://schemas.microsoft.com/office/drawing/2014/main" id="{E57005B1-CF65-4BAE-8FEB-0CF55AEF8747}"/>
              </a:ext>
            </a:extLst>
          </p:cNvPr>
          <p:cNvSpPr/>
          <p:nvPr/>
        </p:nvSpPr>
        <p:spPr>
          <a:xfrm>
            <a:off x="2938644" y="1569253"/>
            <a:ext cx="2318545" cy="547669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chemeClr val="tx1"/>
                </a:solidFill>
              </a:rPr>
              <a:t>1) </a:t>
            </a:r>
            <a:r>
              <a:rPr lang="ko-KR" altLang="en-US" sz="1100" b="1" dirty="0">
                <a:solidFill>
                  <a:schemeClr val="tx1"/>
                </a:solidFill>
              </a:rPr>
              <a:t>랜드마크 탐색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20" name="사각형: 잘린 대각선 방향 모서리 19">
            <a:extLst>
              <a:ext uri="{FF2B5EF4-FFF2-40B4-BE49-F238E27FC236}">
                <a16:creationId xmlns:a16="http://schemas.microsoft.com/office/drawing/2014/main" id="{07E8CFA7-300D-464A-BC24-716BD3E68DBD}"/>
              </a:ext>
            </a:extLst>
          </p:cNvPr>
          <p:cNvSpPr/>
          <p:nvPr/>
        </p:nvSpPr>
        <p:spPr>
          <a:xfrm>
            <a:off x="2798742" y="3429000"/>
            <a:ext cx="2598347" cy="1180927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arenR"/>
            </a:pPr>
            <a:r>
              <a:rPr lang="ko-KR" altLang="en-US" sz="1100" b="1" dirty="0">
                <a:solidFill>
                  <a:schemeClr val="tx1"/>
                </a:solidFill>
              </a:rPr>
              <a:t>웃는지 여부 확인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  :</a:t>
            </a:r>
            <a:r>
              <a:rPr lang="ko-KR" altLang="en-US" sz="1100" b="1" dirty="0">
                <a:solidFill>
                  <a:schemeClr val="tx1"/>
                </a:solidFill>
              </a:rPr>
              <a:t>턱과 아랫입술 거리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입술간 거리계산 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3) </a:t>
            </a:r>
            <a:r>
              <a:rPr lang="ko-KR" altLang="en-US" sz="1100" b="1" dirty="0">
                <a:solidFill>
                  <a:schemeClr val="tx1"/>
                </a:solidFill>
              </a:rPr>
              <a:t>웃으면 </a:t>
            </a:r>
            <a:r>
              <a:rPr lang="en-US" altLang="ko-KR" sz="1100" b="1" dirty="0">
                <a:solidFill>
                  <a:schemeClr val="tx1"/>
                </a:solidFill>
              </a:rPr>
              <a:t>-&gt; </a:t>
            </a:r>
            <a:r>
              <a:rPr lang="ko-KR" altLang="en-US" sz="1100" b="1" dirty="0">
                <a:solidFill>
                  <a:schemeClr val="tx1"/>
                </a:solidFill>
              </a:rPr>
              <a:t>텍스트 삽입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14AD77AA-6210-4010-B528-3B9A2D646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6" b="60398"/>
          <a:stretch/>
        </p:blipFill>
        <p:spPr>
          <a:xfrm>
            <a:off x="5524225" y="1255137"/>
            <a:ext cx="2770062" cy="1723570"/>
          </a:xfrm>
          <a:prstGeom prst="rect">
            <a:avLst/>
          </a:prstGeom>
        </p:spPr>
      </p:pic>
      <p:pic>
        <p:nvPicPr>
          <p:cNvPr id="12" name="그림 11" descr="스크린샷이(가) 표시된 사진&#10;&#10;자동 생성된 설명">
            <a:extLst>
              <a:ext uri="{FF2B5EF4-FFF2-40B4-BE49-F238E27FC236}">
                <a16:creationId xmlns:a16="http://schemas.microsoft.com/office/drawing/2014/main" id="{529A8A8A-AE1B-437E-BBC0-193DD10E5B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25"/>
          <a:stretch/>
        </p:blipFill>
        <p:spPr>
          <a:xfrm>
            <a:off x="5524225" y="3324109"/>
            <a:ext cx="3006716" cy="19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9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239D000-B6F3-40F4-929A-6B8EDA2D9058}"/>
              </a:ext>
            </a:extLst>
          </p:cNvPr>
          <p:cNvSpPr txBox="1"/>
          <p:nvPr/>
        </p:nvSpPr>
        <p:spPr>
          <a:xfrm>
            <a:off x="1191926" y="1721285"/>
            <a:ext cx="59490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프로젝트</a:t>
            </a:r>
            <a:r>
              <a:rPr lang="en-US" altLang="ko-KR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3 : Heart emoji</a:t>
            </a: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삽입</a:t>
            </a:r>
            <a:endParaRPr lang="ko-KR" altLang="en-US" sz="40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A5AB76-F8D4-48AD-9846-A839E657CBDB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191926" y="2429171"/>
            <a:ext cx="585857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EBD93B-2E24-491C-BBB3-56E08FBA9D1F}"/>
              </a:ext>
            </a:extLst>
          </p:cNvPr>
          <p:cNvSpPr/>
          <p:nvPr/>
        </p:nvSpPr>
        <p:spPr>
          <a:xfrm>
            <a:off x="7050503" y="2338683"/>
            <a:ext cx="180975" cy="18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E48E6-33EA-4889-85EE-14746B2CFB5B}"/>
              </a:ext>
            </a:extLst>
          </p:cNvPr>
          <p:cNvSpPr txBox="1"/>
          <p:nvPr/>
        </p:nvSpPr>
        <p:spPr>
          <a:xfrm>
            <a:off x="7833629" y="4669989"/>
            <a:ext cx="3355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2020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년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월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일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빅데이터전공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3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학년 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20165332 </a:t>
            </a: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정구현</a:t>
            </a:r>
            <a:endParaRPr lang="ko-KR" altLang="en-US" sz="24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57041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목표 및 결과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03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03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AC2856-6864-42EC-9523-53DD72B7509C}"/>
              </a:ext>
            </a:extLst>
          </p:cNvPr>
          <p:cNvSpPr/>
          <p:nvPr/>
        </p:nvSpPr>
        <p:spPr>
          <a:xfrm>
            <a:off x="3784522" y="1592306"/>
            <a:ext cx="6335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input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258A52-EF59-4DAF-A8F2-F44D78ECC780}"/>
              </a:ext>
            </a:extLst>
          </p:cNvPr>
          <p:cNvSpPr/>
          <p:nvPr/>
        </p:nvSpPr>
        <p:spPr>
          <a:xfrm>
            <a:off x="7368512" y="1592306"/>
            <a:ext cx="7633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output</a:t>
            </a:r>
          </a:p>
        </p:txBody>
      </p:sp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D3B75D46-70B4-42AC-AFD1-CE2A3823413A}"/>
              </a:ext>
            </a:extLst>
          </p:cNvPr>
          <p:cNvSpPr/>
          <p:nvPr/>
        </p:nvSpPr>
        <p:spPr>
          <a:xfrm>
            <a:off x="3793663" y="4651993"/>
            <a:ext cx="4604673" cy="836849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목표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웃는 얼굴 입꼬리에 하트 아이콘 삽입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결과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입력 출력 영상 참조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B1C1D742-18D2-4DB1-AD28-58AEB0B7C6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6" b="60398"/>
          <a:stretch/>
        </p:blipFill>
        <p:spPr>
          <a:xfrm>
            <a:off x="2418385" y="2097707"/>
            <a:ext cx="3677615" cy="2288262"/>
          </a:xfrm>
          <a:prstGeom prst="rect">
            <a:avLst/>
          </a:prstGeom>
        </p:spPr>
      </p:pic>
      <p:pic>
        <p:nvPicPr>
          <p:cNvPr id="15" name="그림 14" descr="스크린샷이(가) 표시된 사진&#10;&#10;자동 생성된 설명">
            <a:extLst>
              <a:ext uri="{FF2B5EF4-FFF2-40B4-BE49-F238E27FC236}">
                <a16:creationId xmlns:a16="http://schemas.microsoft.com/office/drawing/2014/main" id="{86F1F296-BD03-424C-A6AB-921AB37AD1C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22" r="37107"/>
          <a:stretch/>
        </p:blipFill>
        <p:spPr>
          <a:xfrm>
            <a:off x="6036571" y="1956597"/>
            <a:ext cx="3737044" cy="242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40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03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03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13D89-FF68-4220-B4FD-BD09DC4AFCEA}"/>
              </a:ext>
            </a:extLst>
          </p:cNvPr>
          <p:cNvSpPr/>
          <p:nvPr/>
        </p:nvSpPr>
        <p:spPr>
          <a:xfrm>
            <a:off x="1656294" y="6268005"/>
            <a:ext cx="13532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3</a:t>
            </a:r>
            <a:r>
              <a:rPr lang="ko-KR" altLang="en-US" sz="1400" b="1" dirty="0"/>
              <a:t>번 소스코드</a:t>
            </a:r>
            <a:r>
              <a:rPr lang="en-US" altLang="ko-KR" sz="1400" b="1" dirty="0"/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AC2856-6864-42EC-9523-53DD72B7509C}"/>
              </a:ext>
            </a:extLst>
          </p:cNvPr>
          <p:cNvSpPr/>
          <p:nvPr/>
        </p:nvSpPr>
        <p:spPr>
          <a:xfrm>
            <a:off x="9021394" y="6304680"/>
            <a:ext cx="8899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3</a:t>
            </a:r>
            <a:r>
              <a:rPr lang="ko-KR" altLang="en-US" sz="1400" b="1" dirty="0"/>
              <a:t>번 출력</a:t>
            </a:r>
            <a:endParaRPr lang="en-US" altLang="ko-KR" sz="1400" b="1" dirty="0"/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359ED7F8-020E-4F00-9F02-C05A63D83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809" y="836048"/>
            <a:ext cx="3381988" cy="5396477"/>
          </a:xfrm>
          <a:prstGeom prst="rect">
            <a:avLst/>
          </a:prstGeom>
        </p:spPr>
      </p:pic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5A4B40C4-C947-4828-8BDF-58A44A445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793" y="837081"/>
            <a:ext cx="3381988" cy="539544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947480-4326-4BAF-AB27-1ED7FB9ABCD7}"/>
              </a:ext>
            </a:extLst>
          </p:cNvPr>
          <p:cNvSpPr/>
          <p:nvPr/>
        </p:nvSpPr>
        <p:spPr>
          <a:xfrm>
            <a:off x="5055629" y="6290242"/>
            <a:ext cx="1415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3</a:t>
            </a:r>
            <a:r>
              <a:rPr lang="ko-KR" altLang="en-US" sz="1400" b="1" dirty="0"/>
              <a:t>번 소스코드 </a:t>
            </a:r>
            <a:r>
              <a:rPr lang="en-US" altLang="ko-KR" sz="1400" b="1" dirty="0"/>
              <a:t>2</a:t>
            </a:r>
          </a:p>
        </p:txBody>
      </p:sp>
      <p:pic>
        <p:nvPicPr>
          <p:cNvPr id="15" name="그림 14" descr="스크린샷이(가) 표시된 사진&#10;&#10;자동 생성된 설명">
            <a:extLst>
              <a:ext uri="{FF2B5EF4-FFF2-40B4-BE49-F238E27FC236}">
                <a16:creationId xmlns:a16="http://schemas.microsoft.com/office/drawing/2014/main" id="{93F7D574-6B85-49EF-85FC-32764CA0C7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777" y="836048"/>
            <a:ext cx="3574105" cy="545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5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세부 내용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02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01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9" name="사각형: 잘린 대각선 방향 모서리 18">
            <a:extLst>
              <a:ext uri="{FF2B5EF4-FFF2-40B4-BE49-F238E27FC236}">
                <a16:creationId xmlns:a16="http://schemas.microsoft.com/office/drawing/2014/main" id="{E57005B1-CF65-4BAE-8FEB-0CF55AEF8747}"/>
              </a:ext>
            </a:extLst>
          </p:cNvPr>
          <p:cNvSpPr/>
          <p:nvPr/>
        </p:nvSpPr>
        <p:spPr>
          <a:xfrm>
            <a:off x="1779370" y="826481"/>
            <a:ext cx="3120697" cy="2159413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chemeClr val="tx1"/>
                </a:solidFill>
              </a:rPr>
              <a:t>1) </a:t>
            </a:r>
            <a:r>
              <a:rPr lang="ko-KR" altLang="en-US" sz="1100" b="1" dirty="0">
                <a:solidFill>
                  <a:schemeClr val="tx1"/>
                </a:solidFill>
              </a:rPr>
              <a:t>얼굴 검출 및 랜드마크 탐색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chemeClr val="tx1"/>
                </a:solidFill>
              </a:rPr>
              <a:t>2) </a:t>
            </a:r>
            <a:r>
              <a:rPr lang="ko-KR" altLang="en-US" sz="1100" b="1" dirty="0">
                <a:solidFill>
                  <a:schemeClr val="tx1"/>
                </a:solidFill>
              </a:rPr>
              <a:t>하트 아이콘 마스크 생성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chemeClr val="tx1"/>
                </a:solidFill>
              </a:rPr>
              <a:t>3) </a:t>
            </a:r>
            <a:r>
              <a:rPr lang="ko-KR" altLang="en-US" sz="1100" b="1" dirty="0">
                <a:solidFill>
                  <a:schemeClr val="tx1"/>
                </a:solidFill>
              </a:rPr>
              <a:t>하트 아이콘의 길이 구하기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sp>
        <p:nvSpPr>
          <p:cNvPr id="20" name="사각형: 잘린 대각선 방향 모서리 19">
            <a:extLst>
              <a:ext uri="{FF2B5EF4-FFF2-40B4-BE49-F238E27FC236}">
                <a16:creationId xmlns:a16="http://schemas.microsoft.com/office/drawing/2014/main" id="{07E8CFA7-300D-464A-BC24-716BD3E68DBD}"/>
              </a:ext>
            </a:extLst>
          </p:cNvPr>
          <p:cNvSpPr/>
          <p:nvPr/>
        </p:nvSpPr>
        <p:spPr>
          <a:xfrm>
            <a:off x="1709838" y="4140976"/>
            <a:ext cx="3120697" cy="1762622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arenR"/>
            </a:pPr>
            <a:r>
              <a:rPr lang="ko-KR" altLang="en-US" sz="1100" b="1" dirty="0">
                <a:solidFill>
                  <a:schemeClr val="tx1"/>
                </a:solidFill>
              </a:rPr>
              <a:t>웃는지 여부 확인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     :</a:t>
            </a:r>
            <a:r>
              <a:rPr lang="ko-KR" altLang="en-US" sz="1100" b="1" dirty="0">
                <a:solidFill>
                  <a:schemeClr val="tx1"/>
                </a:solidFill>
              </a:rPr>
              <a:t>턱과 아랫입술 거리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입술간 거리계산 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2) Landmark</a:t>
            </a:r>
            <a:r>
              <a:rPr lang="ko-KR" altLang="en-US" sz="1100" b="1" dirty="0">
                <a:solidFill>
                  <a:schemeClr val="tx1"/>
                </a:solidFill>
              </a:rPr>
              <a:t>탐색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3) </a:t>
            </a:r>
            <a:r>
              <a:rPr lang="ko-KR" altLang="en-US" sz="1100" b="1" dirty="0">
                <a:solidFill>
                  <a:schemeClr val="tx1"/>
                </a:solidFill>
              </a:rPr>
              <a:t>하트의 좌표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지정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4) </a:t>
            </a:r>
            <a:r>
              <a:rPr lang="ko-KR" altLang="en-US" sz="1100" b="1" dirty="0">
                <a:solidFill>
                  <a:schemeClr val="tx1"/>
                </a:solidFill>
              </a:rPr>
              <a:t>아이콘의 크기 비율 정하기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5) </a:t>
            </a:r>
            <a:r>
              <a:rPr lang="ko-KR" altLang="en-US" sz="1100" b="1" dirty="0">
                <a:solidFill>
                  <a:schemeClr val="tx1"/>
                </a:solidFill>
              </a:rPr>
              <a:t>프레임에서 추출할 부분 마스크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역마스크 구하기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6) </a:t>
            </a:r>
            <a:r>
              <a:rPr lang="ko-KR" altLang="en-US" sz="1100" b="1" dirty="0">
                <a:solidFill>
                  <a:schemeClr val="tx1"/>
                </a:solidFill>
              </a:rPr>
              <a:t>아이콘 넣기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endParaRPr lang="en-US" altLang="ko-KR" sz="1100" b="1" dirty="0">
              <a:solidFill>
                <a:schemeClr val="tx1"/>
              </a:solidFill>
            </a:endParaRPr>
          </a:p>
        </p:txBody>
      </p:sp>
      <p:pic>
        <p:nvPicPr>
          <p:cNvPr id="13" name="그림 12" descr="스크린샷이(가) 표시된 사진&#10;&#10;자동 생성된 설명">
            <a:extLst>
              <a:ext uri="{FF2B5EF4-FFF2-40B4-BE49-F238E27FC236}">
                <a16:creationId xmlns:a16="http://schemas.microsoft.com/office/drawing/2014/main" id="{89D8C0FA-7075-438E-A393-54678BD7C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260" y="826481"/>
            <a:ext cx="3574105" cy="545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6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239D000-B6F3-40F4-929A-6B8EDA2D9058}"/>
              </a:ext>
            </a:extLst>
          </p:cNvPr>
          <p:cNvSpPr txBox="1"/>
          <p:nvPr/>
        </p:nvSpPr>
        <p:spPr>
          <a:xfrm>
            <a:off x="1457172" y="1721285"/>
            <a:ext cx="548900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프로젝트</a:t>
            </a:r>
            <a:r>
              <a:rPr lang="en-US" altLang="ko-KR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4 : Sunglass </a:t>
            </a:r>
            <a:r>
              <a:rPr lang="ko-KR" altLang="en-US" sz="40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삽입</a:t>
            </a:r>
            <a:endParaRPr lang="ko-KR" altLang="en-US" sz="40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A5AB76-F8D4-48AD-9846-A839E657CBDB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191926" y="2429171"/>
            <a:ext cx="585857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EBD93B-2E24-491C-BBB3-56E08FBA9D1F}"/>
              </a:ext>
            </a:extLst>
          </p:cNvPr>
          <p:cNvSpPr/>
          <p:nvPr/>
        </p:nvSpPr>
        <p:spPr>
          <a:xfrm>
            <a:off x="7050503" y="2338683"/>
            <a:ext cx="180975" cy="18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E48E6-33EA-4889-85EE-14746B2CFB5B}"/>
              </a:ext>
            </a:extLst>
          </p:cNvPr>
          <p:cNvSpPr txBox="1"/>
          <p:nvPr/>
        </p:nvSpPr>
        <p:spPr>
          <a:xfrm>
            <a:off x="7833629" y="4669989"/>
            <a:ext cx="3355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2020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년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월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16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일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빅데이터전공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 </a:t>
            </a: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3</a:t>
            </a:r>
            <a:r>
              <a:rPr lang="ko-KR" altLang="en-US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학년 </a:t>
            </a:r>
            <a:endParaRPr lang="en-US" altLang="ko-KR" sz="2400" kern="0" spc="-300" dirty="0">
              <a:solidFill>
                <a:schemeClr val="tx1">
                  <a:lumMod val="50000"/>
                  <a:lumOff val="50000"/>
                </a:schemeClr>
              </a:solidFill>
              <a:latin typeface="나눔명조" panose="02020603020101020101" pitchFamily="18" charset="-127"/>
              <a:ea typeface="나눔명조 ExtraBold" panose="02020603020101020101" pitchFamily="18" charset="-127"/>
            </a:endParaRPr>
          </a:p>
          <a:p>
            <a:pPr algn="r">
              <a:defRPr/>
            </a:pPr>
            <a:r>
              <a:rPr lang="en-US" altLang="ko-KR" sz="2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20165332 </a:t>
            </a:r>
            <a:r>
              <a:rPr lang="ko-KR" altLang="en-US" sz="2400" kern="0" spc="-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명조" panose="02020603020101020101" pitchFamily="18" charset="-127"/>
                <a:ea typeface="나눔명조 ExtraBold" panose="02020603020101020101" pitchFamily="18" charset="-127"/>
              </a:rPr>
              <a:t>정구현</a:t>
            </a:r>
            <a:endParaRPr lang="ko-KR" altLang="en-US" sz="24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50410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목표 및 결과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AC2856-6864-42EC-9523-53DD72B7509C}"/>
              </a:ext>
            </a:extLst>
          </p:cNvPr>
          <p:cNvSpPr/>
          <p:nvPr/>
        </p:nvSpPr>
        <p:spPr>
          <a:xfrm>
            <a:off x="3784522" y="1592306"/>
            <a:ext cx="6335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input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258A52-EF59-4DAF-A8F2-F44D78ECC780}"/>
              </a:ext>
            </a:extLst>
          </p:cNvPr>
          <p:cNvSpPr/>
          <p:nvPr/>
        </p:nvSpPr>
        <p:spPr>
          <a:xfrm>
            <a:off x="7368512" y="1592306"/>
            <a:ext cx="7633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output</a:t>
            </a:r>
          </a:p>
        </p:txBody>
      </p:sp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D3B75D46-70B4-42AC-AFD1-CE2A3823413A}"/>
              </a:ext>
            </a:extLst>
          </p:cNvPr>
          <p:cNvSpPr/>
          <p:nvPr/>
        </p:nvSpPr>
        <p:spPr>
          <a:xfrm>
            <a:off x="3793663" y="4651993"/>
            <a:ext cx="4604673" cy="836849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목표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얼굴에 </a:t>
            </a:r>
            <a:r>
              <a:rPr lang="ko-KR" altLang="en-US" sz="1100" b="1" dirty="0" err="1">
                <a:solidFill>
                  <a:schemeClr val="tx1"/>
                </a:solidFill>
              </a:rPr>
              <a:t>썬글라스</a:t>
            </a:r>
            <a:r>
              <a:rPr lang="ko-KR" altLang="en-US" sz="1100" b="1" dirty="0">
                <a:solidFill>
                  <a:schemeClr val="tx1"/>
                </a:solidFill>
              </a:rPr>
              <a:t> 씌우기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결과 </a:t>
            </a:r>
            <a:r>
              <a:rPr lang="en-US" altLang="ko-KR" sz="1100" b="1" dirty="0">
                <a:solidFill>
                  <a:schemeClr val="tx1"/>
                </a:solidFill>
              </a:rPr>
              <a:t>: </a:t>
            </a:r>
            <a:r>
              <a:rPr lang="ko-KR" altLang="en-US" sz="1100" b="1" dirty="0">
                <a:solidFill>
                  <a:schemeClr val="tx1"/>
                </a:solidFill>
              </a:rPr>
              <a:t>입출력 영상 참조</a:t>
            </a:r>
            <a:endParaRPr lang="en-US" altLang="ko-KR" sz="1100" b="1" dirty="0">
              <a:solidFill>
                <a:schemeClr val="tx1"/>
              </a:solidFill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B1C1D742-18D2-4DB1-AD28-58AEB0B7C6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6" b="60398"/>
          <a:stretch/>
        </p:blipFill>
        <p:spPr>
          <a:xfrm>
            <a:off x="2418385" y="2097707"/>
            <a:ext cx="3677615" cy="2288262"/>
          </a:xfrm>
          <a:prstGeom prst="rect">
            <a:avLst/>
          </a:prstGeom>
        </p:spPr>
      </p:pic>
      <p:pic>
        <p:nvPicPr>
          <p:cNvPr id="11" name="그림 10" descr="스크린샷, 여자, 사진, 화면이(가) 표시된 사진&#10;&#10;자동 생성된 설명">
            <a:extLst>
              <a:ext uri="{FF2B5EF4-FFF2-40B4-BE49-F238E27FC236}">
                <a16:creationId xmlns:a16="http://schemas.microsoft.com/office/drawing/2014/main" id="{14966C2A-AE80-4179-954F-65A9DDB88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608" y="2097707"/>
            <a:ext cx="3884509" cy="228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55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13D89-FF68-4220-B4FD-BD09DC4AFCEA}"/>
              </a:ext>
            </a:extLst>
          </p:cNvPr>
          <p:cNvSpPr/>
          <p:nvPr/>
        </p:nvSpPr>
        <p:spPr>
          <a:xfrm>
            <a:off x="407988" y="6268005"/>
            <a:ext cx="13532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소스코드</a:t>
            </a:r>
            <a:r>
              <a:rPr lang="en-US" altLang="ko-KR" sz="1400" b="1" dirty="0"/>
              <a:t>1</a:t>
            </a: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6CBB91E4-E08B-4109-A658-4ECAC83C6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27" y="1169988"/>
            <a:ext cx="3002445" cy="5098017"/>
          </a:xfrm>
          <a:prstGeom prst="rect">
            <a:avLst/>
          </a:prstGeom>
        </p:spPr>
      </p:pic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FB54570A-0581-403C-B3FD-E6398C6AF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509" y="1169988"/>
            <a:ext cx="2907251" cy="509801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23AD7B-FDBC-4B8B-8E05-77F14177560F}"/>
              </a:ext>
            </a:extLst>
          </p:cNvPr>
          <p:cNvSpPr/>
          <p:nvPr/>
        </p:nvSpPr>
        <p:spPr>
          <a:xfrm>
            <a:off x="3523851" y="6268005"/>
            <a:ext cx="13532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소스코드</a:t>
            </a:r>
            <a:r>
              <a:rPr lang="en-US" altLang="ko-KR" sz="1400" b="1" dirty="0"/>
              <a:t>2</a:t>
            </a:r>
          </a:p>
        </p:txBody>
      </p:sp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37996CC4-CF24-4C04-B0C7-AD3B14A98F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429" y="1169987"/>
            <a:ext cx="2660571" cy="5096295"/>
          </a:xfrm>
          <a:prstGeom prst="rect">
            <a:avLst/>
          </a:prstGeom>
        </p:spPr>
      </p:pic>
      <p:pic>
        <p:nvPicPr>
          <p:cNvPr id="19" name="그림 18" descr="스크린샷이(가) 표시된 사진&#10;&#10;자동 생성된 설명">
            <a:extLst>
              <a:ext uri="{FF2B5EF4-FFF2-40B4-BE49-F238E27FC236}">
                <a16:creationId xmlns:a16="http://schemas.microsoft.com/office/drawing/2014/main" id="{0DAB1DA9-D642-4C43-8A9F-E2D84FF072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254" y="1169986"/>
            <a:ext cx="2907251" cy="509629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130589-51FF-4538-A4F0-3DA74166041F}"/>
              </a:ext>
            </a:extLst>
          </p:cNvPr>
          <p:cNvSpPr/>
          <p:nvPr/>
        </p:nvSpPr>
        <p:spPr>
          <a:xfrm>
            <a:off x="6541293" y="6268005"/>
            <a:ext cx="13532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소스코드</a:t>
            </a:r>
            <a:r>
              <a:rPr lang="en-US" altLang="ko-KR" sz="1400" b="1" dirty="0"/>
              <a:t>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5451E5-FD42-4B3E-8242-F79366658AD4}"/>
              </a:ext>
            </a:extLst>
          </p:cNvPr>
          <p:cNvSpPr/>
          <p:nvPr/>
        </p:nvSpPr>
        <p:spPr>
          <a:xfrm>
            <a:off x="9224595" y="6268005"/>
            <a:ext cx="13532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소스코드</a:t>
            </a:r>
            <a:r>
              <a:rPr lang="en-US" altLang="ko-KR" sz="14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25513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13D89-FF68-4220-B4FD-BD09DC4AFCEA}"/>
              </a:ext>
            </a:extLst>
          </p:cNvPr>
          <p:cNvSpPr/>
          <p:nvPr/>
        </p:nvSpPr>
        <p:spPr>
          <a:xfrm>
            <a:off x="5388114" y="6188752"/>
            <a:ext cx="1415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출력결과 </a:t>
            </a:r>
            <a:r>
              <a:rPr lang="en-US" altLang="ko-KR" sz="1400" b="1" dirty="0"/>
              <a:t>1</a:t>
            </a: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5F37F412-28E4-4CFB-B3D7-E36EE74BD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037" y="801271"/>
            <a:ext cx="2701698" cy="5467766"/>
          </a:xfrm>
          <a:prstGeom prst="rect">
            <a:avLst/>
          </a:prstGeom>
        </p:spPr>
      </p:pic>
      <p:sp>
        <p:nvSpPr>
          <p:cNvPr id="12" name="사각형: 잘린 대각선 방향 모서리 11">
            <a:extLst>
              <a:ext uri="{FF2B5EF4-FFF2-40B4-BE49-F238E27FC236}">
                <a16:creationId xmlns:a16="http://schemas.microsoft.com/office/drawing/2014/main" id="{2457EFAD-616B-49B5-AF4A-9F5E94585305}"/>
              </a:ext>
            </a:extLst>
          </p:cNvPr>
          <p:cNvSpPr/>
          <p:nvPr/>
        </p:nvSpPr>
        <p:spPr>
          <a:xfrm>
            <a:off x="1795674" y="862895"/>
            <a:ext cx="3193058" cy="1725131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b="1" dirty="0">
                <a:solidFill>
                  <a:schemeClr val="tx1"/>
                </a:solidFill>
              </a:rPr>
              <a:t>1) </a:t>
            </a:r>
            <a:r>
              <a:rPr lang="ko-KR" altLang="en-US" sz="1100" b="1" dirty="0">
                <a:solidFill>
                  <a:schemeClr val="tx1"/>
                </a:solidFill>
              </a:rPr>
              <a:t>얼굴 탐지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2) </a:t>
            </a:r>
            <a:r>
              <a:rPr lang="ko-KR" altLang="en-US" sz="1100" b="1" dirty="0">
                <a:solidFill>
                  <a:schemeClr val="tx1"/>
                </a:solidFill>
              </a:rPr>
              <a:t>선글라스의 높이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너비 구하기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3) </a:t>
            </a:r>
            <a:r>
              <a:rPr lang="ko-KR" altLang="en-US" sz="1100" b="1" dirty="0">
                <a:solidFill>
                  <a:schemeClr val="tx1"/>
                </a:solidFill>
              </a:rPr>
              <a:t>눈의 대응점 설정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4) </a:t>
            </a:r>
            <a:r>
              <a:rPr lang="ko-KR" altLang="en-US" sz="1100" b="1" dirty="0">
                <a:solidFill>
                  <a:schemeClr val="tx1"/>
                </a:solidFill>
              </a:rPr>
              <a:t>선글라스의 대응점 설정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5) </a:t>
            </a:r>
            <a:r>
              <a:rPr lang="ko-KR" altLang="en-US" sz="1100" b="1" dirty="0">
                <a:solidFill>
                  <a:schemeClr val="bg2"/>
                </a:solidFill>
              </a:rPr>
              <a:t>선글라스의 크기 및 회전 조절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6) </a:t>
            </a:r>
            <a:r>
              <a:rPr lang="ko-KR" altLang="en-US" sz="1100" b="1" dirty="0">
                <a:solidFill>
                  <a:schemeClr val="bg2"/>
                </a:solidFill>
              </a:rPr>
              <a:t>마스크</a:t>
            </a:r>
            <a:r>
              <a:rPr lang="en-US" altLang="ko-KR" sz="1100" b="1" dirty="0">
                <a:solidFill>
                  <a:schemeClr val="bg2"/>
                </a:solidFill>
              </a:rPr>
              <a:t>/</a:t>
            </a:r>
            <a:r>
              <a:rPr lang="ko-KR" altLang="en-US" sz="1100" b="1" dirty="0">
                <a:solidFill>
                  <a:schemeClr val="bg2"/>
                </a:solidFill>
              </a:rPr>
              <a:t>역마스크 구하기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7) </a:t>
            </a:r>
            <a:r>
              <a:rPr lang="ko-KR" altLang="en-US" sz="1100" b="1" dirty="0" err="1">
                <a:solidFill>
                  <a:schemeClr val="bg2"/>
                </a:solidFill>
              </a:rPr>
              <a:t>알파블렌딩</a:t>
            </a:r>
            <a:r>
              <a:rPr lang="en-US" altLang="ko-KR" sz="1100" b="1" dirty="0">
                <a:solidFill>
                  <a:schemeClr val="bg2"/>
                </a:solidFill>
              </a:rPr>
              <a:t>(7:3</a:t>
            </a:r>
            <a:r>
              <a:rPr lang="ko-KR" altLang="en-US" sz="1100" b="1" dirty="0">
                <a:solidFill>
                  <a:schemeClr val="bg2"/>
                </a:solidFill>
              </a:rPr>
              <a:t>비율</a:t>
            </a:r>
            <a:r>
              <a:rPr lang="en-US" altLang="ko-KR" sz="1100" b="1" dirty="0">
                <a:solidFill>
                  <a:schemeClr val="bg2"/>
                </a:solidFill>
              </a:rPr>
              <a:t>)</a:t>
            </a:r>
          </a:p>
          <a:p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058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23AD7B-FDBC-4B8B-8E05-77F14177560F}"/>
              </a:ext>
            </a:extLst>
          </p:cNvPr>
          <p:cNvSpPr/>
          <p:nvPr/>
        </p:nvSpPr>
        <p:spPr>
          <a:xfrm>
            <a:off x="1593594" y="713905"/>
            <a:ext cx="1415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출력결과 </a:t>
            </a:r>
            <a:r>
              <a:rPr lang="en-US" altLang="ko-KR" sz="1400" b="1" dirty="0"/>
              <a:t>2</a:t>
            </a: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EF8A3FA9-021D-464D-8F27-6169A1DD8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220663"/>
            <a:ext cx="5987696" cy="6600827"/>
          </a:xfrm>
          <a:prstGeom prst="rect">
            <a:avLst/>
          </a:prstGeom>
        </p:spPr>
      </p:pic>
      <p:sp>
        <p:nvSpPr>
          <p:cNvPr id="8" name="사각형: 잘린 대각선 방향 모서리 7">
            <a:extLst>
              <a:ext uri="{FF2B5EF4-FFF2-40B4-BE49-F238E27FC236}">
                <a16:creationId xmlns:a16="http://schemas.microsoft.com/office/drawing/2014/main" id="{560BE02B-C50E-4598-8819-0E125ABAEA96}"/>
              </a:ext>
            </a:extLst>
          </p:cNvPr>
          <p:cNvSpPr/>
          <p:nvPr/>
        </p:nvSpPr>
        <p:spPr>
          <a:xfrm>
            <a:off x="1757376" y="1570803"/>
            <a:ext cx="3193058" cy="1725131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b="1" dirty="0">
                <a:solidFill>
                  <a:schemeClr val="bg2"/>
                </a:solidFill>
              </a:rPr>
              <a:t>1) </a:t>
            </a:r>
            <a:r>
              <a:rPr lang="ko-KR" altLang="en-US" sz="1100" b="1" dirty="0">
                <a:solidFill>
                  <a:schemeClr val="bg2"/>
                </a:solidFill>
              </a:rPr>
              <a:t>얼굴 탐지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2) </a:t>
            </a:r>
            <a:r>
              <a:rPr lang="ko-KR" altLang="en-US" sz="1100" b="1" dirty="0">
                <a:solidFill>
                  <a:schemeClr val="bg2"/>
                </a:solidFill>
              </a:rPr>
              <a:t>선글라스의 높이</a:t>
            </a:r>
            <a:r>
              <a:rPr lang="en-US" altLang="ko-KR" sz="1100" b="1" dirty="0">
                <a:solidFill>
                  <a:schemeClr val="bg2"/>
                </a:solidFill>
              </a:rPr>
              <a:t>, </a:t>
            </a:r>
            <a:r>
              <a:rPr lang="ko-KR" altLang="en-US" sz="1100" b="1" dirty="0">
                <a:solidFill>
                  <a:schemeClr val="bg2"/>
                </a:solidFill>
              </a:rPr>
              <a:t>너비 구하기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3) </a:t>
            </a:r>
            <a:r>
              <a:rPr lang="ko-KR" altLang="en-US" sz="1100" b="1" dirty="0">
                <a:solidFill>
                  <a:schemeClr val="bg2"/>
                </a:solidFill>
              </a:rPr>
              <a:t>각 얼굴의</a:t>
            </a:r>
            <a:r>
              <a:rPr lang="en-US" altLang="ko-KR" sz="1100" b="1" dirty="0">
                <a:solidFill>
                  <a:schemeClr val="bg2"/>
                </a:solidFill>
              </a:rPr>
              <a:t> </a:t>
            </a:r>
            <a:r>
              <a:rPr lang="ko-KR" altLang="en-US" sz="1100" b="1" dirty="0">
                <a:solidFill>
                  <a:schemeClr val="bg2"/>
                </a:solidFill>
              </a:rPr>
              <a:t>눈의 대응점 설정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4) </a:t>
            </a:r>
            <a:r>
              <a:rPr lang="ko-KR" altLang="en-US" sz="1100" b="1" dirty="0">
                <a:solidFill>
                  <a:schemeClr val="bg2"/>
                </a:solidFill>
              </a:rPr>
              <a:t>선글라스의 대응점 설정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5) </a:t>
            </a:r>
            <a:r>
              <a:rPr lang="ko-KR" altLang="en-US" sz="1100" b="1" dirty="0">
                <a:solidFill>
                  <a:schemeClr val="tx1"/>
                </a:solidFill>
              </a:rPr>
              <a:t>선글라스의 크기 및 회전 조절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6) </a:t>
            </a:r>
            <a:r>
              <a:rPr lang="ko-KR" altLang="en-US" sz="1100" b="1" dirty="0">
                <a:solidFill>
                  <a:schemeClr val="tx1"/>
                </a:solidFill>
              </a:rPr>
              <a:t>마스크</a:t>
            </a:r>
            <a:r>
              <a:rPr lang="en-US" altLang="ko-KR" sz="1100" b="1" dirty="0">
                <a:solidFill>
                  <a:schemeClr val="tx1"/>
                </a:solidFill>
              </a:rPr>
              <a:t>/</a:t>
            </a:r>
            <a:r>
              <a:rPr lang="ko-KR" altLang="en-US" sz="1100" b="1" dirty="0">
                <a:solidFill>
                  <a:schemeClr val="tx1"/>
                </a:solidFill>
              </a:rPr>
              <a:t>역마스크 구하기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7) </a:t>
            </a:r>
            <a:r>
              <a:rPr lang="ko-KR" altLang="en-US" sz="1100" b="1" dirty="0" err="1">
                <a:solidFill>
                  <a:schemeClr val="tx1"/>
                </a:solidFill>
              </a:rPr>
              <a:t>알파블렌딩</a:t>
            </a:r>
            <a:r>
              <a:rPr lang="en-US" altLang="ko-KR" sz="1100" b="1" dirty="0">
                <a:solidFill>
                  <a:schemeClr val="tx1"/>
                </a:solidFill>
              </a:rPr>
              <a:t>(7:3</a:t>
            </a:r>
            <a:r>
              <a:rPr lang="ko-KR" altLang="en-US" sz="1100" b="1" dirty="0">
                <a:solidFill>
                  <a:schemeClr val="tx1"/>
                </a:solidFill>
              </a:rPr>
              <a:t>비율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  <a:p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695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13D89-FF68-4220-B4FD-BD09DC4AFCEA}"/>
              </a:ext>
            </a:extLst>
          </p:cNvPr>
          <p:cNvSpPr/>
          <p:nvPr/>
        </p:nvSpPr>
        <p:spPr>
          <a:xfrm>
            <a:off x="1088644" y="1420992"/>
            <a:ext cx="1415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출력결과 </a:t>
            </a:r>
            <a:r>
              <a:rPr lang="en-US" altLang="ko-KR" sz="1400" b="1" dirty="0"/>
              <a:t>3</a:t>
            </a:r>
          </a:p>
        </p:txBody>
      </p:sp>
      <p:pic>
        <p:nvPicPr>
          <p:cNvPr id="13" name="그림 12" descr="스크린샷이(가) 표시된 사진&#10;&#10;자동 생성된 설명">
            <a:extLst>
              <a:ext uri="{FF2B5EF4-FFF2-40B4-BE49-F238E27FC236}">
                <a16:creationId xmlns:a16="http://schemas.microsoft.com/office/drawing/2014/main" id="{3F333FE1-CFC7-4F12-B97A-A83ABF725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234" y="882178"/>
            <a:ext cx="6756061" cy="538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8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AE472E5-D29E-4692-A9EE-03D4E737A833}"/>
              </a:ext>
            </a:extLst>
          </p:cNvPr>
          <p:cNvSpPr/>
          <p:nvPr/>
        </p:nvSpPr>
        <p:spPr>
          <a:xfrm>
            <a:off x="1420813" y="220663"/>
            <a:ext cx="37607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소스코드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9BCBD-B5AB-4E2A-A596-63459DEA4CCB}"/>
              </a:ext>
            </a:extLst>
          </p:cNvPr>
          <p:cNvSpPr/>
          <p:nvPr/>
        </p:nvSpPr>
        <p:spPr>
          <a:xfrm>
            <a:off x="1446213" y="588963"/>
            <a:ext cx="10223500" cy="3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5F52B-598E-47BF-82DA-AE1B9B996627}"/>
              </a:ext>
            </a:extLst>
          </p:cNvPr>
          <p:cNvSpPr/>
          <p:nvPr/>
        </p:nvSpPr>
        <p:spPr>
          <a:xfrm>
            <a:off x="407988" y="0"/>
            <a:ext cx="1012825" cy="1069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83D1-7F87-4ED0-9360-2896B5D60FDD}"/>
              </a:ext>
            </a:extLst>
          </p:cNvPr>
          <p:cNvSpPr txBox="1"/>
          <p:nvPr/>
        </p:nvSpPr>
        <p:spPr>
          <a:xfrm>
            <a:off x="407988" y="-100013"/>
            <a:ext cx="1092821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5400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 </a:t>
            </a:r>
          </a:p>
          <a:p>
            <a:pPr>
              <a:defRPr/>
            </a:pPr>
            <a:r>
              <a:rPr lang="en-US" altLang="ko-KR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04</a:t>
            </a:r>
            <a:r>
              <a:rPr lang="ko-KR" altLang="en-US" kern="0" spc="-15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번 문제</a:t>
            </a:r>
            <a:endParaRPr lang="ko-KR" altLang="en-US" sz="4400" kern="0" spc="-150" dirty="0">
              <a:solidFill>
                <a:schemeClr val="bg1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13D89-FF68-4220-B4FD-BD09DC4AFCEA}"/>
              </a:ext>
            </a:extLst>
          </p:cNvPr>
          <p:cNvSpPr/>
          <p:nvPr/>
        </p:nvSpPr>
        <p:spPr>
          <a:xfrm>
            <a:off x="3287392" y="1420992"/>
            <a:ext cx="1415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/>
              <a:t>4</a:t>
            </a:r>
            <a:r>
              <a:rPr lang="ko-KR" altLang="en-US" sz="1400" b="1" dirty="0"/>
              <a:t>번 출력결과 </a:t>
            </a:r>
            <a:r>
              <a:rPr lang="en-US" altLang="ko-KR" sz="1400" b="1" dirty="0"/>
              <a:t>4</a:t>
            </a:r>
          </a:p>
        </p:txBody>
      </p:sp>
      <p:pic>
        <p:nvPicPr>
          <p:cNvPr id="15" name="그림 14" descr="스크린샷, 여자, 사진, 화면이(가) 표시된 사진&#10;&#10;자동 생성된 설명">
            <a:extLst>
              <a:ext uri="{FF2B5EF4-FFF2-40B4-BE49-F238E27FC236}">
                <a16:creationId xmlns:a16="http://schemas.microsoft.com/office/drawing/2014/main" id="{382E2D9A-3BF4-4ABF-A1FC-1E41CEFF7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164" y="1363031"/>
            <a:ext cx="6220426" cy="3664289"/>
          </a:xfrm>
          <a:prstGeom prst="rect">
            <a:avLst/>
          </a:prstGeom>
        </p:spPr>
      </p:pic>
      <p:sp>
        <p:nvSpPr>
          <p:cNvPr id="11" name="사각형: 잘린 대각선 방향 모서리 10">
            <a:extLst>
              <a:ext uri="{FF2B5EF4-FFF2-40B4-BE49-F238E27FC236}">
                <a16:creationId xmlns:a16="http://schemas.microsoft.com/office/drawing/2014/main" id="{1854965E-1AC4-4A61-A839-7EB0B2201D24}"/>
              </a:ext>
            </a:extLst>
          </p:cNvPr>
          <p:cNvSpPr/>
          <p:nvPr/>
        </p:nvSpPr>
        <p:spPr>
          <a:xfrm>
            <a:off x="1338567" y="2211325"/>
            <a:ext cx="3193058" cy="1725131"/>
          </a:xfrm>
          <a:prstGeom prst="snip2Diag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b="1" dirty="0">
                <a:solidFill>
                  <a:schemeClr val="bg2"/>
                </a:solidFill>
              </a:rPr>
              <a:t>1) </a:t>
            </a:r>
            <a:r>
              <a:rPr lang="ko-KR" altLang="en-US" sz="1100" b="1" dirty="0">
                <a:solidFill>
                  <a:schemeClr val="bg2"/>
                </a:solidFill>
              </a:rPr>
              <a:t>얼굴 탐지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2) </a:t>
            </a:r>
            <a:r>
              <a:rPr lang="ko-KR" altLang="en-US" sz="1100" b="1" dirty="0">
                <a:solidFill>
                  <a:schemeClr val="bg2"/>
                </a:solidFill>
              </a:rPr>
              <a:t>선글라스의 높이</a:t>
            </a:r>
            <a:r>
              <a:rPr lang="en-US" altLang="ko-KR" sz="1100" b="1" dirty="0">
                <a:solidFill>
                  <a:schemeClr val="bg2"/>
                </a:solidFill>
              </a:rPr>
              <a:t>, </a:t>
            </a:r>
            <a:r>
              <a:rPr lang="ko-KR" altLang="en-US" sz="1100" b="1" dirty="0">
                <a:solidFill>
                  <a:schemeClr val="bg2"/>
                </a:solidFill>
              </a:rPr>
              <a:t>너비 구하기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3) </a:t>
            </a:r>
            <a:r>
              <a:rPr lang="ko-KR" altLang="en-US" sz="1100" b="1" dirty="0">
                <a:solidFill>
                  <a:schemeClr val="bg2"/>
                </a:solidFill>
              </a:rPr>
              <a:t>각 얼굴의</a:t>
            </a:r>
            <a:r>
              <a:rPr lang="en-US" altLang="ko-KR" sz="1100" b="1" dirty="0">
                <a:solidFill>
                  <a:schemeClr val="bg2"/>
                </a:solidFill>
              </a:rPr>
              <a:t> </a:t>
            </a:r>
            <a:r>
              <a:rPr lang="ko-KR" altLang="en-US" sz="1100" b="1" dirty="0">
                <a:solidFill>
                  <a:schemeClr val="bg2"/>
                </a:solidFill>
              </a:rPr>
              <a:t>눈의 대응점 설정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4) </a:t>
            </a:r>
            <a:r>
              <a:rPr lang="ko-KR" altLang="en-US" sz="1100" b="1" dirty="0">
                <a:solidFill>
                  <a:schemeClr val="bg2"/>
                </a:solidFill>
              </a:rPr>
              <a:t>선글라스의 대응점 설정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5) </a:t>
            </a:r>
            <a:r>
              <a:rPr lang="ko-KR" altLang="en-US" sz="1100" b="1" dirty="0">
                <a:solidFill>
                  <a:schemeClr val="bg2"/>
                </a:solidFill>
              </a:rPr>
              <a:t>선글라스의 크기 및 회전 조절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bg2"/>
                </a:solidFill>
              </a:rPr>
              <a:t>6) </a:t>
            </a:r>
            <a:r>
              <a:rPr lang="ko-KR" altLang="en-US" sz="1100" b="1" dirty="0">
                <a:solidFill>
                  <a:schemeClr val="bg2"/>
                </a:solidFill>
              </a:rPr>
              <a:t>마스크</a:t>
            </a:r>
            <a:r>
              <a:rPr lang="en-US" altLang="ko-KR" sz="1100" b="1" dirty="0">
                <a:solidFill>
                  <a:schemeClr val="bg2"/>
                </a:solidFill>
              </a:rPr>
              <a:t>/</a:t>
            </a:r>
            <a:r>
              <a:rPr lang="ko-KR" altLang="en-US" sz="1100" b="1" dirty="0">
                <a:solidFill>
                  <a:schemeClr val="bg2"/>
                </a:solidFill>
              </a:rPr>
              <a:t>역마스크 구하기</a:t>
            </a:r>
            <a:endParaRPr lang="en-US" altLang="ko-KR" sz="1100" b="1" dirty="0">
              <a:solidFill>
                <a:schemeClr val="bg2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7) </a:t>
            </a:r>
            <a:r>
              <a:rPr lang="ko-KR" altLang="en-US" sz="1100" b="1" dirty="0" err="1">
                <a:solidFill>
                  <a:schemeClr val="tx1"/>
                </a:solidFill>
              </a:rPr>
              <a:t>알파블렌딩</a:t>
            </a:r>
            <a:r>
              <a:rPr lang="en-US" altLang="ko-KR" sz="1100" b="1" dirty="0">
                <a:solidFill>
                  <a:schemeClr val="tx1"/>
                </a:solidFill>
              </a:rPr>
              <a:t>(7:3</a:t>
            </a:r>
            <a:r>
              <a:rPr lang="ko-KR" altLang="en-US" sz="1100" b="1" dirty="0">
                <a:solidFill>
                  <a:schemeClr val="tx1"/>
                </a:solidFill>
              </a:rPr>
              <a:t>비율</a:t>
            </a:r>
            <a:r>
              <a:rPr lang="en-US" altLang="ko-KR" sz="1100" b="1" dirty="0">
                <a:solidFill>
                  <a:schemeClr val="tx1"/>
                </a:solidFill>
              </a:rPr>
              <a:t>)</a:t>
            </a:r>
          </a:p>
          <a:p>
            <a:endParaRPr lang="en-US" altLang="ko-K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659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239D000-B6F3-40F4-929A-6B8EDA2D9058}"/>
              </a:ext>
            </a:extLst>
          </p:cNvPr>
          <p:cNvSpPr txBox="1"/>
          <p:nvPr/>
        </p:nvSpPr>
        <p:spPr>
          <a:xfrm>
            <a:off x="4741302" y="2588122"/>
            <a:ext cx="289855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4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감사합니다</a:t>
            </a:r>
            <a:r>
              <a:rPr lang="en-US" altLang="ko-KR" sz="4400" kern="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.</a:t>
            </a:r>
            <a:endParaRPr lang="ko-KR" altLang="en-US" sz="4400" kern="0" spc="-300" dirty="0">
              <a:solidFill>
                <a:schemeClr val="tx1">
                  <a:lumMod val="65000"/>
                  <a:lumOff val="35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A5AB76-F8D4-48AD-9846-A839E657CBDB}"/>
              </a:ext>
            </a:extLst>
          </p:cNvPr>
          <p:cNvCxnSpPr/>
          <p:nvPr/>
        </p:nvCxnSpPr>
        <p:spPr>
          <a:xfrm>
            <a:off x="4656140" y="3357563"/>
            <a:ext cx="3095625" cy="238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EBD93B-2E24-491C-BBB3-56E08FBA9D1F}"/>
              </a:ext>
            </a:extLst>
          </p:cNvPr>
          <p:cNvSpPr/>
          <p:nvPr/>
        </p:nvSpPr>
        <p:spPr>
          <a:xfrm>
            <a:off x="7643815" y="3217865"/>
            <a:ext cx="180975" cy="18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94391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937</TotalTime>
  <Words>534</Words>
  <Application>Microsoft Office PowerPoint</Application>
  <PresentationFormat>와이드스크린</PresentationFormat>
  <Paragraphs>164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나눔명조</vt:lpstr>
      <vt:lpstr>나눔명조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20165332</dc:creator>
  <cp:lastModifiedBy>20165332</cp:lastModifiedBy>
  <cp:revision>107</cp:revision>
  <dcterms:created xsi:type="dcterms:W3CDTF">2020-05-08T08:31:52Z</dcterms:created>
  <dcterms:modified xsi:type="dcterms:W3CDTF">2020-06-17T00:44:37Z</dcterms:modified>
</cp:coreProperties>
</file>